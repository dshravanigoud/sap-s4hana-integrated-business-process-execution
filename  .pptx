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  <p:sldMasterId id="2147483742" r:id="rId2"/>
    <p:sldMasterId id="2147483754" r:id="rId3"/>
  </p:sldMasterIdLst>
  <p:notesMasterIdLst>
    <p:notesMasterId r:id="rId29"/>
  </p:notesMasterIdLst>
  <p:handoutMasterIdLst>
    <p:handoutMasterId r:id="rId30"/>
  </p:handoutMasterIdLst>
  <p:sldIdLst>
    <p:sldId id="256" r:id="rId4"/>
    <p:sldId id="521" r:id="rId5"/>
    <p:sldId id="481" r:id="rId6"/>
    <p:sldId id="550" r:id="rId7"/>
    <p:sldId id="551" r:id="rId8"/>
    <p:sldId id="552" r:id="rId9"/>
    <p:sldId id="565" r:id="rId10"/>
    <p:sldId id="586" r:id="rId11"/>
    <p:sldId id="506" r:id="rId12"/>
    <p:sldId id="505" r:id="rId13"/>
    <p:sldId id="569" r:id="rId14"/>
    <p:sldId id="508" r:id="rId15"/>
    <p:sldId id="509" r:id="rId16"/>
    <p:sldId id="511" r:id="rId17"/>
    <p:sldId id="588" r:id="rId18"/>
    <p:sldId id="512" r:id="rId19"/>
    <p:sldId id="513" r:id="rId20"/>
    <p:sldId id="514" r:id="rId21"/>
    <p:sldId id="516" r:id="rId22"/>
    <p:sldId id="522" r:id="rId23"/>
    <p:sldId id="523" r:id="rId24"/>
    <p:sldId id="524" r:id="rId25"/>
    <p:sldId id="525" r:id="rId26"/>
    <p:sldId id="526" r:id="rId27"/>
    <p:sldId id="527" r:id="rId28"/>
  </p:sldIdLst>
  <p:sldSz cx="9144000" cy="6858000" type="screen4x3"/>
  <p:notesSz cx="6858000" cy="9117013"/>
  <p:custDataLst>
    <p:tags r:id="rId3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1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bert Weiss" initials="RW" lastIdx="2" clrIdx="0"/>
  <p:cmAuthor id="1" name="Turbolou" initials="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85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864"/>
    </p:cViewPr>
  </p:sorterViewPr>
  <p:notesViewPr>
    <p:cSldViewPr>
      <p:cViewPr varScale="1">
        <p:scale>
          <a:sx n="84" d="100"/>
          <a:sy n="84" d="100"/>
        </p:scale>
        <p:origin x="-1260" y="-90"/>
      </p:cViewPr>
      <p:guideLst>
        <p:guide orient="horz" pos="2871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asimha" userId="3e244e95-32b8-4bf5-b505-3eb4971f102b" providerId="ADAL" clId="{143A8EE0-236D-4D26-A25A-04C86EADD613}"/>
    <pc:docChg chg="custSel modMainMaster">
      <pc:chgData name="Narasimha" userId="3e244e95-32b8-4bf5-b505-3eb4971f102b" providerId="ADAL" clId="{143A8EE0-236D-4D26-A25A-04C86EADD613}" dt="2020-02-27T16:00:35.526" v="1" actId="313"/>
      <pc:docMkLst>
        <pc:docMk/>
      </pc:docMkLst>
      <pc:sldMasterChg chg="modSp mod modSldLayout">
        <pc:chgData name="Narasimha" userId="3e244e95-32b8-4bf5-b505-3eb4971f102b" providerId="ADAL" clId="{143A8EE0-236D-4D26-A25A-04C86EADD613}" dt="2020-02-27T16:00:35.526" v="1" actId="313"/>
        <pc:sldMasterMkLst>
          <pc:docMk/>
          <pc:sldMasterMk cId="0" sldId="2147483754"/>
        </pc:sldMasterMkLst>
        <pc:spChg chg="mod">
          <ac:chgData name="Narasimha" userId="3e244e95-32b8-4bf5-b505-3eb4971f102b" providerId="ADAL" clId="{143A8EE0-236D-4D26-A25A-04C86EADD613}" dt="2020-02-27T16:00:35.526" v="1" actId="313"/>
          <ac:spMkLst>
            <pc:docMk/>
            <pc:sldMasterMk cId="0" sldId="2147483754"/>
            <ac:spMk id="10" creationId="{00000000-0000-0000-0000-000000000000}"/>
          </ac:spMkLst>
        </pc:spChg>
        <pc:sldLayoutChg chg="modSp mod">
          <pc:chgData name="Narasimha" userId="3e244e95-32b8-4bf5-b505-3eb4971f102b" providerId="ADAL" clId="{143A8EE0-236D-4D26-A25A-04C86EADD613}" dt="2020-02-27T16:00:33.614" v="0" actId="313"/>
          <pc:sldLayoutMkLst>
            <pc:docMk/>
            <pc:sldMasterMk cId="0" sldId="2147483754"/>
            <pc:sldLayoutMk cId="0" sldId="2147483756"/>
          </pc:sldLayoutMkLst>
          <pc:spChg chg="mod">
            <ac:chgData name="Narasimha" userId="3e244e95-32b8-4bf5-b505-3eb4971f102b" providerId="ADAL" clId="{143A8EE0-236D-4D26-A25A-04C86EADD613}" dt="2020-02-27T16:00:33.614" v="0" actId="313"/>
            <ac:spMkLst>
              <pc:docMk/>
              <pc:sldMasterMk cId="0" sldId="2147483754"/>
              <pc:sldLayoutMk cId="0" sldId="2147483756"/>
              <ac:spMk id="11" creationId="{00000000-0000-0000-0000-000000000000}"/>
            </ac:spMkLst>
          </pc:spChg>
        </pc:sldLayoutChg>
      </pc:sldMasterChg>
    </pc:docChg>
  </pc:docChgLst>
  <pc:docChgLst>
    <pc:chgData name="Narasimha Magal" userId="3e244e95-32b8-4bf5-b505-3eb4971f102b" providerId="ADAL" clId="{4DA218EE-44C6-46B4-AFE8-1333DE86FFC1}"/>
    <pc:docChg chg="modSld">
      <pc:chgData name="Narasimha Magal" userId="3e244e95-32b8-4bf5-b505-3eb4971f102b" providerId="ADAL" clId="{4DA218EE-44C6-46B4-AFE8-1333DE86FFC1}" dt="2019-09-21T14:35:11.263" v="1" actId="113"/>
      <pc:docMkLst>
        <pc:docMk/>
      </pc:docMkLst>
      <pc:sldChg chg="modSp">
        <pc:chgData name="Narasimha Magal" userId="3e244e95-32b8-4bf5-b505-3eb4971f102b" providerId="ADAL" clId="{4DA218EE-44C6-46B4-AFE8-1333DE86FFC1}" dt="2019-09-21T14:35:11.263" v="1" actId="113"/>
        <pc:sldMkLst>
          <pc:docMk/>
          <pc:sldMk cId="0" sldId="552"/>
        </pc:sldMkLst>
        <pc:spChg chg="mod">
          <ac:chgData name="Narasimha Magal" userId="3e244e95-32b8-4bf5-b505-3eb4971f102b" providerId="ADAL" clId="{4DA218EE-44C6-46B4-AFE8-1333DE86FFC1}" dt="2019-09-21T14:35:11.263" v="1" actId="113"/>
          <ac:spMkLst>
            <pc:docMk/>
            <pc:sldMk cId="0" sldId="552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59813"/>
            <a:ext cx="29718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59813"/>
            <a:ext cx="29718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E7B6C0F-5EA4-432A-947B-606F98DF1D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16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84213"/>
            <a:ext cx="4557712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30700"/>
            <a:ext cx="54864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59813"/>
            <a:ext cx="29718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59813"/>
            <a:ext cx="29718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01710B1-ED01-4979-8972-EDA48FAC18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692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1710B1-ED01-4979-8972-EDA48FAC18F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1710B1-ED01-4979-8972-EDA48FAC18F9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1710B1-ED01-4979-8972-EDA48FAC18F9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347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482EC-C017-439F-8698-1D7BBF812A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18AFD-7DE1-4ED2-9C8A-33C46713F1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5FF84-A6EF-4735-BA6F-013E2A0414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A08FE-1391-4BC2-8A45-FAB2AEA5973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ED4B9-C8D2-4523-990A-DC3B91CBB54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47525-5E8F-455E-8038-C84FEA2BA9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E45B6-06B3-4138-84FE-E65AC9AE987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B463F-8390-49E6-9B6C-44A3312FF70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8EF76-D667-4FD3-9D2A-C9C2D76C18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D3C4C-7D0A-4E77-B1D4-2C638E3AE5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4F3C7-2EA1-40C1-9F76-9A0FF87B98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 bwMode="gray"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 w="9525" algn="ctr">
            <a:noFill/>
            <a:miter lim="800000"/>
            <a:headEnd/>
            <a:tailEnd/>
          </a:ln>
        </p:spPr>
        <p:txBody>
          <a:bodyPr lIns="90000" tIns="72000" rIns="144000" bIns="72000" rtlCol="0" anchor="ctr"/>
          <a:lstStyle/>
          <a:p>
            <a:pPr marL="157163" marR="0" indent="-15716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Char char="n"/>
              <a:tabLst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7"/>
          <p:cNvSpPr/>
          <p:nvPr/>
        </p:nvSpPr>
        <p:spPr bwMode="gray">
          <a:xfrm>
            <a:off x="151200" y="2988000"/>
            <a:ext cx="8841600" cy="371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ight Triangle 10"/>
          <p:cNvSpPr/>
          <p:nvPr/>
        </p:nvSpPr>
        <p:spPr bwMode="gray">
          <a:xfrm flipH="1">
            <a:off x="8486810" y="6215083"/>
            <a:ext cx="557211" cy="557210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/>
          <p:cNvSpPr/>
          <p:nvPr/>
        </p:nvSpPr>
        <p:spPr bwMode="gray">
          <a:xfrm>
            <a:off x="151200" y="151200"/>
            <a:ext cx="5860800" cy="2739600"/>
          </a:xfrm>
          <a:prstGeom prst="rect">
            <a:avLst/>
          </a:prstGeom>
          <a:solidFill>
            <a:srgbClr val="084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48400" y="201600"/>
            <a:ext cx="5666400" cy="25596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Add Title (Title Case)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48400" y="3110400"/>
            <a:ext cx="8647200" cy="17526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</a:t>
            </a:r>
            <a:r>
              <a:rPr lang="de-DE" dirty="0"/>
              <a:t>Department, Board Area or Team</a:t>
            </a:r>
          </a:p>
        </p:txBody>
      </p:sp>
      <p:pic>
        <p:nvPicPr>
          <p:cNvPr id="5" name="Picture 4" descr="Epistemy_Press_Blue_Logo_RGB_72dpi.ps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795" y="98570"/>
            <a:ext cx="1694983" cy="264890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905000" y="6400800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err="1"/>
              <a:t>Magal</a:t>
            </a:r>
            <a:r>
              <a:rPr lang="en-US" sz="1100" dirty="0"/>
              <a:t> and Word Business Process Integration w/ SAP ERP | © 2016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gray"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 w="9525" algn="ctr">
            <a:noFill/>
            <a:miter lim="800000"/>
            <a:headEnd/>
            <a:tailEnd/>
          </a:ln>
        </p:spPr>
        <p:txBody>
          <a:bodyPr lIns="90000" tIns="72000" rIns="144000" bIns="72000" rtlCol="0" anchor="ctr"/>
          <a:lstStyle/>
          <a:p>
            <a:pPr marL="157163" marR="0" indent="-157163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Wingdings" pitchFamily="2" charset="2"/>
              <a:buChar char="n"/>
              <a:tabLst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7"/>
          <p:cNvSpPr/>
          <p:nvPr/>
        </p:nvSpPr>
        <p:spPr bwMode="gray">
          <a:xfrm>
            <a:off x="151200" y="2988000"/>
            <a:ext cx="8841600" cy="371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ight Triangle 8"/>
          <p:cNvSpPr/>
          <p:nvPr/>
        </p:nvSpPr>
        <p:spPr bwMode="gray">
          <a:xfrm flipH="1">
            <a:off x="8486810" y="6215083"/>
            <a:ext cx="557211" cy="557210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/>
          <p:cNvSpPr/>
          <p:nvPr/>
        </p:nvSpPr>
        <p:spPr bwMode="gray">
          <a:xfrm>
            <a:off x="151200" y="151200"/>
            <a:ext cx="8841600" cy="2739600"/>
          </a:xfrm>
          <a:prstGeom prst="rect">
            <a:avLst/>
          </a:prstGeom>
          <a:solidFill>
            <a:srgbClr val="084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48400" y="201600"/>
            <a:ext cx="8647200" cy="25596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Add Title (Title Case)</a:t>
            </a:r>
            <a:endParaRPr lang="de-DE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48400" y="3110400"/>
            <a:ext cx="8647200" cy="17526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</a:t>
            </a:r>
            <a:r>
              <a:rPr lang="de-DE" dirty="0"/>
              <a:t>Department, Board Area or Team</a:t>
            </a:r>
          </a:p>
        </p:txBody>
      </p:sp>
      <p:cxnSp>
        <p:nvCxnSpPr>
          <p:cNvPr id="66" name="Straight Connector 65"/>
          <p:cNvCxnSpPr/>
          <p:nvPr/>
        </p:nvCxnSpPr>
        <p:spPr>
          <a:xfrm>
            <a:off x="971550" y="5294175"/>
            <a:ext cx="7200900" cy="0"/>
          </a:xfrm>
          <a:prstGeom prst="line">
            <a:avLst/>
          </a:prstGeom>
          <a:ln w="12700">
            <a:solidFill>
              <a:srgbClr val="0846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1905000" y="6400800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Magal and Word Business Process Integration w/ SAP ERP | © 2020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de-DE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48400" y="1465319"/>
            <a:ext cx="8647200" cy="4908049"/>
          </a:xfrm>
        </p:spPr>
        <p:txBody>
          <a:bodyPr/>
          <a:lstStyle>
            <a:lvl1pPr marL="360000" indent="-360000">
              <a:buClrTx/>
              <a:buSzPct val="100000"/>
              <a:buFont typeface="+mj-lt"/>
              <a:buAutoNum type="arabicPeriod"/>
              <a:defRPr sz="2000">
                <a:solidFill>
                  <a:schemeClr val="accent2"/>
                </a:solidFill>
              </a:defRPr>
            </a:lvl1pPr>
            <a:lvl2pPr marL="900000" indent="-288000">
              <a:spcBef>
                <a:spcPts val="300"/>
              </a:spcBef>
              <a:defRPr sz="1800">
                <a:solidFill>
                  <a:schemeClr val="accent2"/>
                </a:solidFill>
              </a:defRPr>
            </a:lvl2pPr>
          </a:lstStyle>
          <a:p>
            <a:pPr lvl="0"/>
            <a:r>
              <a:rPr lang="en-US" dirty="0"/>
              <a:t>Click to add Divider Headline</a:t>
            </a:r>
          </a:p>
          <a:p>
            <a:pPr lvl="1"/>
            <a:r>
              <a:rPr lang="en-US" dirty="0"/>
              <a:t>Sub divider Headline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Add Title (Title Case)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Add Title (Title Case)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48400" y="1292400"/>
            <a:ext cx="8647200" cy="5410800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8400" y="201600"/>
            <a:ext cx="8071200" cy="39276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Add Title (Title Case)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48400" y="1292400"/>
            <a:ext cx="8647200" cy="5410800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48400" y="648001"/>
            <a:ext cx="8071200" cy="3121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Add Title (Title Case)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1200" y="1083600"/>
            <a:ext cx="8841600" cy="56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with picture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Add Title (Title Case)</a:t>
            </a:r>
            <a:endParaRPr lang="de-DE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151200" y="1292400"/>
            <a:ext cx="2134800" cy="54108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484000" y="1292400"/>
            <a:ext cx="6508800" cy="5410800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with picture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Add Title (Title Case)</a:t>
            </a:r>
            <a:endParaRPr lang="de-DE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151200" y="1292400"/>
            <a:ext cx="2134800" cy="54108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386800" y="1292400"/>
            <a:ext cx="6606000" cy="541080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72000" bIns="72000"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Add Title (Title Case)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48400" y="1292400"/>
            <a:ext cx="4248000" cy="5410800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622400" y="1292400"/>
            <a:ext cx="4248000" cy="5410800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Add Title (Title Case)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48400" y="1292400"/>
            <a:ext cx="2818800" cy="5410800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80400" y="1292400"/>
            <a:ext cx="2818800" cy="5410800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164400" y="1292400"/>
            <a:ext cx="2818800" cy="5410800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gray">
          <a:xfrm>
            <a:off x="219823" y="170953"/>
            <a:ext cx="7168652" cy="8113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600" b="1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1550" y="1981200"/>
            <a:ext cx="3429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3450" y="1981200"/>
            <a:ext cx="3429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70531" y="6289679"/>
            <a:ext cx="724460" cy="22243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98983" y="6289679"/>
            <a:ext cx="689162" cy="22243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454ABA4-2CFD-493D-BCEA-EF6395F4518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084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 bwMode="hidden">
          <a:xfrm>
            <a:off x="-1" y="0"/>
            <a:ext cx="9144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rgbClr val="084673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rgbClr val="084673">
                      <a:alpha val="25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rgbClr val="084673">
                      <a:alpha val="25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rgbClr val="084673">
                      <a:alpha val="25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rgbClr val="084673">
                      <a:alpha val="25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rgbClr val="084673">
                      <a:alpha val="25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rgbClr val="084673">
                      <a:alpha val="25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rgbClr val="084673">
                      <a:alpha val="25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rgbClr val="084673">
                      <a:alpha val="25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rgbClr val="084673">
                      <a:alpha val="25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rgbClr val="084673">
                      <a:alpha val="25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rgbClr val="084673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2541573"/>
            <a:ext cx="72009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5431536"/>
            <a:ext cx="72009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971550" y="5294175"/>
            <a:ext cx="7200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818322"/>
            <a:ext cx="3429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rgbClr val="08467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503714"/>
            <a:ext cx="3429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43450" y="1818322"/>
            <a:ext cx="3429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rgbClr val="08467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43450" y="2503714"/>
            <a:ext cx="3429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970531" y="6289679"/>
            <a:ext cx="724460" cy="22243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998983" y="6289679"/>
            <a:ext cx="689162" cy="22243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3BF0B08-80D6-4336-8BE6-090A30E395B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solidFill>
          <a:srgbClr val="084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 bwMode="hidden">
          <a:xfrm>
            <a:off x="-1" y="0"/>
            <a:ext cx="9144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864" y="571500"/>
            <a:ext cx="27432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98" y="571500"/>
            <a:ext cx="466344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864" y="2995012"/>
            <a:ext cx="27432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5942317" y="2895600"/>
            <a:ext cx="274448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70531" y="6289679"/>
            <a:ext cx="724460" cy="22243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998983" y="6289679"/>
            <a:ext cx="689162" cy="22243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21D06DA-8D48-4002-A788-1D2D92A0B58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rgbClr val="084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-159"/>
            <a:ext cx="5489709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170" y="576072"/>
            <a:ext cx="27432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2170" y="2999232"/>
            <a:ext cx="27432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 dirty="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90478-7ABB-4302-ACE0-8FEC7D339FA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/>
          <p:cNvGrpSpPr/>
          <p:nvPr/>
        </p:nvGrpSpPr>
        <p:grpSpPr>
          <a:xfrm>
            <a:off x="131288" y="71559"/>
            <a:ext cx="8902804" cy="1083903"/>
            <a:chOff x="131288" y="71559"/>
            <a:chExt cx="8902804" cy="1083903"/>
          </a:xfrm>
        </p:grpSpPr>
        <p:sp>
          <p:nvSpPr>
            <p:cNvPr id="5" name="Rectangle 4"/>
            <p:cNvSpPr/>
            <p:nvPr userDrawn="1"/>
          </p:nvSpPr>
          <p:spPr bwMode="gray">
            <a:xfrm>
              <a:off x="131288" y="97688"/>
              <a:ext cx="8112052" cy="952458"/>
            </a:xfrm>
            <a:prstGeom prst="rect">
              <a:avLst/>
            </a:prstGeom>
            <a:solidFill>
              <a:srgbClr val="084673"/>
            </a:solidFill>
            <a:ln w="9525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6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4" name="Picture 3" descr="Epistemy_Press_Blue_Logo_RGB_72dpi.jpg"/>
            <p:cNvPicPr>
              <a:picLocks noChangeAspect="1"/>
            </p:cNvPicPr>
            <p:nvPr userDrawn="1"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0523" y="71559"/>
              <a:ext cx="693569" cy="1083903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248401" y="201600"/>
            <a:ext cx="7885028" cy="716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Add Title (Title Case)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48400" y="1292399"/>
            <a:ext cx="8647200" cy="541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Box 9"/>
          <p:cNvSpPr txBox="1"/>
          <p:nvPr/>
        </p:nvSpPr>
        <p:spPr bwMode="gray">
          <a:xfrm>
            <a:off x="151202" y="6724800"/>
            <a:ext cx="21159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93663" indent="-93663" algn="l">
              <a:buClr>
                <a:schemeClr val="accent2"/>
              </a:buClr>
              <a:buFont typeface="Arial" pitchFamily="34" charset="0"/>
              <a:buChar char="©"/>
            </a:pPr>
            <a:r>
              <a:rPr lang="en-US" sz="700" noProof="0" dirty="0">
                <a:solidFill>
                  <a:schemeClr val="accent2"/>
                </a:solidFill>
              </a:rPr>
              <a:t>2020</a:t>
            </a:r>
            <a:r>
              <a:rPr lang="en-US" sz="700" baseline="0" noProof="0" dirty="0">
                <a:solidFill>
                  <a:schemeClr val="accent2"/>
                </a:solidFill>
              </a:rPr>
              <a:t> Epistemy Press</a:t>
            </a:r>
            <a:r>
              <a:rPr lang="en-US" sz="700" noProof="0" dirty="0">
                <a:solidFill>
                  <a:schemeClr val="accent2"/>
                </a:solidFill>
              </a:rPr>
              <a:t> All rights reserved. </a:t>
            </a:r>
            <a:r>
              <a:rPr lang="en-US" sz="700" baseline="0" noProof="0" dirty="0">
                <a:solidFill>
                  <a:schemeClr val="accent2"/>
                </a:solidFill>
              </a:rPr>
              <a:t>/ Page </a:t>
            </a:r>
            <a:fld id="{0BDC132A-5C91-4078-9777-31DA19A62E0A}" type="slidenum">
              <a:rPr lang="en-US" sz="700" baseline="0" noProof="0" smtClean="0">
                <a:solidFill>
                  <a:schemeClr val="accent2"/>
                </a:solidFill>
              </a:rPr>
              <a:pPr marL="93663" indent="-93663" algn="l">
                <a:buClr>
                  <a:schemeClr val="accent2"/>
                </a:buClr>
                <a:buFont typeface="Arial" pitchFamily="34" charset="0"/>
                <a:buChar char="©"/>
              </a:pPr>
              <a:t>‹#›</a:t>
            </a:fld>
            <a:endParaRPr lang="en-US" sz="700" noProof="0" dirty="0">
              <a:solidFill>
                <a:schemeClr val="accent2"/>
              </a:solidFill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>
            <a:off x="457200" y="6172200"/>
            <a:ext cx="8229600" cy="0"/>
          </a:xfrm>
          <a:prstGeom prst="line">
            <a:avLst/>
          </a:prstGeom>
          <a:ln w="12700">
            <a:solidFill>
              <a:srgbClr val="0846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spcBef>
          <a:spcPts val="1620"/>
        </a:spcBef>
        <a:buClr>
          <a:srgbClr val="084673"/>
        </a:buClr>
        <a:buSzPct val="80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500"/>
        </a:spcBef>
        <a:buClr>
          <a:srgbClr val="084673"/>
        </a:buClr>
        <a:buSzPct val="80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180000" algn="l" defTabSz="914400" rtl="0" eaLnBrk="1" latinLnBrk="0" hangingPunct="1">
        <a:spcBef>
          <a:spcPts val="500"/>
        </a:spcBef>
        <a:buClr>
          <a:srgbClr val="084673"/>
        </a:buClr>
        <a:buSzPct val="80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350" indent="-180000" algn="l" defTabSz="914400" rtl="0" eaLnBrk="1" latinLnBrk="0" hangingPunct="1">
        <a:spcBef>
          <a:spcPts val="500"/>
        </a:spcBef>
        <a:buClr>
          <a:srgbClr val="084673"/>
        </a:buClr>
        <a:buSzPct val="80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52500" indent="-180000" algn="l" defTabSz="914400" rtl="0" eaLnBrk="1" latinLnBrk="0" hangingPunct="1">
        <a:spcBef>
          <a:spcPts val="500"/>
        </a:spcBef>
        <a:buClr>
          <a:srgbClr val="084673"/>
        </a:buClr>
        <a:buSzPct val="80000"/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AutoShap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Business Process Integration with </a:t>
            </a:r>
            <a:r>
              <a:rPr lang="en-US"/>
              <a:t>SAP ERP</a:t>
            </a:r>
            <a:br>
              <a:rPr lang="en-US"/>
            </a:br>
            <a:r>
              <a:t>Chapter </a:t>
            </a:r>
            <a:r>
              <a:rPr dirty="0"/>
              <a:t>9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Process Integration</a:t>
            </a:r>
          </a:p>
          <a:p>
            <a:r>
              <a:rPr lang="en-US" dirty="0"/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Thus far the book has covered the following key processes:</a:t>
            </a:r>
          </a:p>
          <a:p>
            <a:pPr lvl="2"/>
            <a:r>
              <a:rPr lang="en-US" dirty="0"/>
              <a:t>Financial accounting</a:t>
            </a:r>
          </a:p>
          <a:p>
            <a:pPr lvl="2"/>
            <a:r>
              <a:rPr lang="en-US" dirty="0"/>
              <a:t>Procurement</a:t>
            </a:r>
          </a:p>
          <a:p>
            <a:pPr lvl="2"/>
            <a:r>
              <a:rPr lang="en-US" dirty="0"/>
              <a:t>Fulfillment</a:t>
            </a:r>
          </a:p>
          <a:p>
            <a:pPr lvl="2"/>
            <a:r>
              <a:rPr lang="en-US" dirty="0"/>
              <a:t>Production</a:t>
            </a:r>
          </a:p>
          <a:p>
            <a:pPr lvl="2"/>
            <a:r>
              <a:rPr lang="en-US" dirty="0"/>
              <a:t>Inventory and warehouse management</a:t>
            </a:r>
          </a:p>
          <a:p>
            <a:pPr lvl="2"/>
            <a:r>
              <a:rPr lang="en-US" dirty="0"/>
              <a:t>Material planning</a:t>
            </a:r>
          </a:p>
          <a:p>
            <a:r>
              <a:rPr lang="en-US" dirty="0"/>
              <a:t>Each of these processes has triggers, data, tasks, and outcomes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763000" cy="762000"/>
          </a:xfrm>
        </p:spPr>
        <p:txBody>
          <a:bodyPr/>
          <a:lstStyle/>
          <a:p>
            <a:r>
              <a:rPr lang="en-US" dirty="0"/>
              <a:t> Integrated </a:t>
            </a:r>
            <a:r>
              <a:rPr lang="en-US"/>
              <a:t>Business Processes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524000"/>
            <a:ext cx="7315200" cy="39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Production strategies</a:t>
            </a:r>
          </a:p>
          <a:p>
            <a:pPr lvl="2"/>
            <a:r>
              <a:rPr lang="en-US" dirty="0"/>
              <a:t>Make-to-stock</a:t>
            </a:r>
          </a:p>
          <a:p>
            <a:pPr lvl="2"/>
            <a:r>
              <a:rPr lang="en-US" dirty="0"/>
              <a:t>Make-to-order</a:t>
            </a:r>
          </a:p>
          <a:p>
            <a:r>
              <a:rPr lang="en-US" dirty="0"/>
              <a:t>Procurement strategy</a:t>
            </a:r>
          </a:p>
          <a:p>
            <a:pPr lvl="2"/>
            <a:r>
              <a:rPr lang="en-US" dirty="0"/>
              <a:t>Procure-to-stock</a:t>
            </a:r>
          </a:p>
          <a:p>
            <a:pPr lvl="2"/>
            <a:r>
              <a:rPr lang="en-US" dirty="0"/>
              <a:t>Procure-to-order</a:t>
            </a:r>
          </a:p>
          <a:p>
            <a:r>
              <a:rPr lang="en-US" dirty="0"/>
              <a:t>Fulfillment strategy</a:t>
            </a:r>
          </a:p>
          <a:p>
            <a:pPr lvl="2"/>
            <a:r>
              <a:rPr lang="en-US" dirty="0"/>
              <a:t>Sell-from-stock</a:t>
            </a:r>
          </a:p>
          <a:p>
            <a:pPr lvl="2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Make-to-stock, procure-to-stock, and sell-from-stock strategies use inventory as a buffer between processes to </a:t>
            </a:r>
            <a:r>
              <a:rPr lang="en-US"/>
              <a:t>de-couple them or </a:t>
            </a:r>
            <a:r>
              <a:rPr lang="en-US" dirty="0"/>
              <a:t>make them less dependent </a:t>
            </a:r>
            <a:r>
              <a:rPr lang="en-US"/>
              <a:t>on one another.</a:t>
            </a:r>
            <a:endParaRPr lang="en-US" dirty="0"/>
          </a:p>
          <a:p>
            <a:r>
              <a:rPr lang="en-US" dirty="0"/>
              <a:t>To illustrate integration </a:t>
            </a:r>
            <a:r>
              <a:rPr lang="en-US"/>
              <a:t>among processes, the scenarios will </a:t>
            </a:r>
            <a:r>
              <a:rPr lang="en-US" dirty="0"/>
              <a:t>no longer assume that </a:t>
            </a:r>
            <a:r>
              <a:rPr lang="en-US"/>
              <a:t>there is a </a:t>
            </a:r>
            <a:r>
              <a:rPr lang="en-US" dirty="0"/>
              <a:t>sufficient inventory of raw materials for production </a:t>
            </a:r>
            <a:r>
              <a:rPr lang="en-US"/>
              <a:t>or of finished </a:t>
            </a:r>
            <a:r>
              <a:rPr lang="en-US" dirty="0"/>
              <a:t>goods </a:t>
            </a:r>
            <a:r>
              <a:rPr lang="en-US"/>
              <a:t>for fulfillment.</a:t>
            </a:r>
            <a:endParaRPr lang="en-US" dirty="0"/>
          </a:p>
          <a:p>
            <a:r>
              <a:rPr lang="en-US"/>
              <a:t>The discussion will focus on the </a:t>
            </a:r>
            <a:r>
              <a:rPr lang="en-US" dirty="0"/>
              <a:t>make-to-order and </a:t>
            </a:r>
            <a:r>
              <a:rPr lang="en-US"/>
              <a:t>procure-to-order strategies.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Two scenarios are presented</a:t>
            </a:r>
          </a:p>
          <a:p>
            <a:pPr lvl="2"/>
            <a:r>
              <a:rPr lang="en-US" dirty="0"/>
              <a:t>Scenario one - Filling a customer order for trading goods</a:t>
            </a:r>
          </a:p>
          <a:p>
            <a:pPr lvl="3"/>
            <a:r>
              <a:rPr lang="en-US" dirty="0"/>
              <a:t>Procurement, fulfillment, IWM</a:t>
            </a:r>
          </a:p>
          <a:p>
            <a:pPr lvl="2"/>
            <a:r>
              <a:rPr lang="en-US" b="1" dirty="0"/>
              <a:t>Scenario two – Filling a customer order for finished goods</a:t>
            </a:r>
          </a:p>
          <a:p>
            <a:pPr lvl="3"/>
            <a:r>
              <a:rPr lang="en-US" b="1" dirty="0"/>
              <a:t>Procurement, fulfillment, production, IWM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Procurement, Fulfillment, Production, and IWM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Rocky Mountain Bikes (RMB) has ordered 40 Red Deluxe Touring Bikes (DXTR3000) from GBI.</a:t>
            </a:r>
          </a:p>
          <a:p>
            <a:r>
              <a:rPr lang="en-US" dirty="0"/>
              <a:t>Assumptions</a:t>
            </a:r>
          </a:p>
          <a:p>
            <a:pPr lvl="2"/>
            <a:r>
              <a:rPr lang="en-US" dirty="0"/>
              <a:t>The Dallas plant currently does not have any touring bikes in inventory.  </a:t>
            </a:r>
          </a:p>
          <a:p>
            <a:pPr lvl="3"/>
            <a:r>
              <a:rPr lang="en-US" dirty="0"/>
              <a:t>When it does have these bikes, the standard price is also $1,400.</a:t>
            </a:r>
          </a:p>
          <a:p>
            <a:pPr lvl="2"/>
            <a:r>
              <a:rPr lang="en-US" dirty="0"/>
              <a:t>The Dallas plant has 200 aluminum wheel assemblies that are needed to produce touring bikes.</a:t>
            </a:r>
          </a:p>
          <a:p>
            <a:pPr lvl="3"/>
            <a:r>
              <a:rPr lang="en-US" dirty="0"/>
              <a:t>The standard price for these wheel assemblies is $110.</a:t>
            </a:r>
          </a:p>
          <a:p>
            <a:pPr lvl="2"/>
            <a:r>
              <a:rPr lang="en-US" dirty="0"/>
              <a:t>RMB has sent GBI a purchase order for 40 Red Deluxe Touring Bikes.</a:t>
            </a:r>
          </a:p>
          <a:p>
            <a:pPr lvl="2"/>
            <a:r>
              <a:rPr lang="en-US" dirty="0"/>
              <a:t>GBI sells these bikes for $2,800 each.</a:t>
            </a:r>
          </a:p>
          <a:p>
            <a:pPr lvl="2"/>
            <a:r>
              <a:rPr lang="en-US" dirty="0"/>
              <a:t>Bikes are produced in Dallas and shipped to San Diego via STO</a:t>
            </a:r>
          </a:p>
          <a:p>
            <a:pPr lvl="3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Material Cost per Bike</a:t>
            </a:r>
          </a:p>
        </p:txBody>
      </p:sp>
      <p:pic>
        <p:nvPicPr>
          <p:cNvPr id="6147" name="Picture 3" descr="C:\Users\magals.OFFICE\Documents\Books\IBP\First Edition\JPEGS\300dpi\CH009\table_09_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1752600"/>
            <a:ext cx="3657600" cy="374681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Procurement, Fulfillment, Production, and Warehouse Management Processes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600200"/>
            <a:ext cx="4114800" cy="4550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639762"/>
          </a:xfrm>
        </p:spPr>
        <p:txBody>
          <a:bodyPr/>
          <a:lstStyle/>
          <a:p>
            <a:r>
              <a:rPr lang="en-US" dirty="0"/>
              <a:t>Account Balances – Start of Process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066800"/>
            <a:ext cx="6583680" cy="4876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5791200" y="6259125"/>
            <a:ext cx="28896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Review Financials / SRL / MAP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Fulfillment Process – Initial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following scenario for the fulfillment process is very similar to the one that was previously discussed.</a:t>
            </a:r>
          </a:p>
          <a:p>
            <a:r>
              <a:rPr lang="en-US" dirty="0"/>
              <a:t>RMB’s purchase order triggers the integrated process and prompts GBI to create a sales order.</a:t>
            </a:r>
          </a:p>
          <a:p>
            <a:r>
              <a:rPr lang="en-US" dirty="0"/>
              <a:t>The ERP system performs an availability check.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315" y="3657600"/>
            <a:ext cx="7315200" cy="12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Create Sales Order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715962"/>
          </a:xfrm>
        </p:spPr>
        <p:txBody>
          <a:bodyPr/>
          <a:lstStyle/>
          <a:p>
            <a:r>
              <a:rPr lang="en-US" dirty="0"/>
              <a:t>Inventory Management – Initial Step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438400"/>
            <a:ext cx="5486400" cy="2029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Create STO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868362"/>
          </a:xfrm>
        </p:spPr>
        <p:txBody>
          <a:bodyPr/>
          <a:lstStyle/>
          <a:p>
            <a:r>
              <a:rPr lang="en-US" dirty="0"/>
              <a:t>Production Process – Initial Steps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743200"/>
            <a:ext cx="7315200" cy="1102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MRP; </a:t>
            </a:r>
            <a:r>
              <a:rPr lang="en-US" b="0" dirty="0" err="1"/>
              <a:t>Prd</a:t>
            </a:r>
            <a:r>
              <a:rPr lang="en-US" b="0" dirty="0"/>
              <a:t> Ord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Procurement Process (External)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743200"/>
            <a:ext cx="7315200" cy="109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Execute Procurement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 Stock Valuation after External Procurement</a:t>
            </a:r>
          </a:p>
        </p:txBody>
      </p:sp>
      <p:pic>
        <p:nvPicPr>
          <p:cNvPr id="8194" name="Picture 2" descr="C:\Users\magals.OFFICE\Documents\Books\IBP\First Edition\JPEGS\300dpi\CH009\table_09_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752600"/>
            <a:ext cx="4572000" cy="4316141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Review MAP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86800" cy="1143000"/>
          </a:xfrm>
        </p:spPr>
        <p:txBody>
          <a:bodyPr/>
          <a:lstStyle/>
          <a:p>
            <a:r>
              <a:rPr lang="en-US" dirty="0"/>
              <a:t>Account Balances after External Procurement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371600"/>
            <a:ext cx="5760720" cy="4672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Review Financials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Process - Continued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743200"/>
            <a:ext cx="7315200" cy="126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Complete production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762000"/>
          </a:xfrm>
        </p:spPr>
        <p:txBody>
          <a:bodyPr/>
          <a:lstStyle/>
          <a:p>
            <a:r>
              <a:rPr lang="en-US" dirty="0"/>
              <a:t>Account Balances after Production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990600"/>
            <a:ext cx="5760720" cy="4953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</a:t>
            </a:r>
            <a:r>
              <a:rPr lang="en-US"/>
              <a:t>: </a:t>
            </a:r>
            <a:r>
              <a:rPr lang="en-US" b="0"/>
              <a:t>Review Financials / SRL</a:t>
            </a:r>
            <a:endParaRPr lang="en-US" b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839200" cy="639762"/>
          </a:xfrm>
        </p:spPr>
        <p:txBody>
          <a:bodyPr/>
          <a:lstStyle/>
          <a:p>
            <a:r>
              <a:rPr lang="en-US" dirty="0"/>
              <a:t>Inventory Management - Continued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286000"/>
            <a:ext cx="6400800" cy="1877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GI / GR for STO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839200" cy="1219200"/>
          </a:xfrm>
        </p:spPr>
        <p:txBody>
          <a:bodyPr/>
          <a:lstStyle/>
          <a:p>
            <a:r>
              <a:rPr lang="en-US" dirty="0"/>
              <a:t>Account Balances </a:t>
            </a:r>
            <a:r>
              <a:rPr lang="en-US"/>
              <a:t>after a Goods </a:t>
            </a:r>
            <a:r>
              <a:rPr lang="en-US" dirty="0"/>
              <a:t>Issue against an STO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447800"/>
            <a:ext cx="5486400" cy="4681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</a:t>
            </a:r>
            <a:r>
              <a:rPr lang="en-US"/>
              <a:t>: </a:t>
            </a:r>
            <a:r>
              <a:rPr lang="en-US" b="0"/>
              <a:t>Review Financials / SRL</a:t>
            </a:r>
            <a:endParaRPr lang="en-US" b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839200" cy="639762"/>
          </a:xfrm>
        </p:spPr>
        <p:txBody>
          <a:bodyPr/>
          <a:lstStyle/>
          <a:p>
            <a:r>
              <a:rPr lang="en-US" dirty="0"/>
              <a:t>Warehouse Management Steps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819400"/>
            <a:ext cx="7315200" cy="125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096000" y="6259125"/>
            <a:ext cx="25848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WM steps in SD (inbound)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839200" cy="639762"/>
          </a:xfrm>
        </p:spPr>
        <p:txBody>
          <a:bodyPr/>
          <a:lstStyle/>
          <a:p>
            <a:r>
              <a:rPr lang="en-US" dirty="0"/>
              <a:t>Fulfillment Process - Continued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438400"/>
            <a:ext cx="6400800" cy="1711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Outbound delivery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839200" cy="639762"/>
          </a:xfrm>
        </p:spPr>
        <p:txBody>
          <a:bodyPr/>
          <a:lstStyle/>
          <a:p>
            <a:r>
              <a:rPr lang="en-US" dirty="0"/>
              <a:t>Warehouse Management Process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514600"/>
            <a:ext cx="6400800" cy="1515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019800" y="6259125"/>
            <a:ext cx="26610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WM steps in SD (outbound)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839200" cy="914400"/>
          </a:xfrm>
        </p:spPr>
        <p:txBody>
          <a:bodyPr/>
          <a:lstStyle/>
          <a:p>
            <a:r>
              <a:rPr lang="en-US" dirty="0"/>
              <a:t>Fulfillment Process – Concluding Steps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667000"/>
            <a:ext cx="7315200" cy="1601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Demo: </a:t>
            </a:r>
            <a:r>
              <a:rPr lang="en-US" b="0" dirty="0"/>
              <a:t>Complete fulfillment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839200" cy="639762"/>
          </a:xfrm>
        </p:spPr>
        <p:txBody>
          <a:bodyPr/>
          <a:lstStyle/>
          <a:p>
            <a:r>
              <a:rPr lang="en-US" dirty="0"/>
              <a:t>Account Balances after Fulfillment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990600"/>
            <a:ext cx="5577840" cy="4976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2001E-BA18-4730-A2E5-6D1F84AD62DB}"/>
              </a:ext>
            </a:extLst>
          </p:cNvPr>
          <p:cNvSpPr txBox="1"/>
          <p:nvPr/>
        </p:nvSpPr>
        <p:spPr>
          <a:xfrm>
            <a:off x="6324600" y="6259125"/>
            <a:ext cx="2356221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Clr>
                <a:srgbClr val="F0AB00"/>
              </a:buClr>
              <a:buSzPct val="80000"/>
              <a:defRPr sz="1200" b="1" kern="0"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Demo</a:t>
            </a:r>
            <a:r>
              <a:rPr lang="en-US"/>
              <a:t>: </a:t>
            </a:r>
            <a:r>
              <a:rPr lang="en-US" b="0"/>
              <a:t>Review Financials / SRL</a:t>
            </a:r>
            <a:endParaRPr lang="en-US" b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Chapter 1&amp;quot;&quot;/&gt;&lt;property id=&quot;20307&quot; value=&quot;256&quot;/&gt;&lt;/object&gt;&lt;object type=&quot;3&quot; unique_id=&quot;10005&quot;&gt;&lt;property id=&quot;20148&quot; value=&quot;5&quot;/&gt;&lt;property id=&quot;20300&quot; value=&quot;Slide 9 - &amp;quot;Figure 1: A generic process&amp;quot;&quot;/&gt;&lt;property id=&quot;20307&quot; value=&quot;257&quot;/&gt;&lt;/object&gt;&lt;object type=&quot;3&quot; unique_id=&quot;10006&quot;&gt;&lt;property id=&quot;20148&quot; value=&quot;5&quot;/&gt;&lt;property id=&quot;20300&quot; value=&quot;Slide 11 - &amp;quot;Procurement Process&amp;quot;&quot;/&gt;&lt;property id=&quot;20307&quot; value=&quot;258&quot;/&gt;&lt;/object&gt;&lt;object type=&quot;3&quot; unique_id=&quot;10007&quot;&gt;&lt;property id=&quot;20148&quot; value=&quot;5&quot;/&gt;&lt;property id=&quot;20300&quot; value=&quot;Slide 12 - &amp;quot;Fulfillment Process&amp;amp;#x09;&amp;quot;&quot;/&gt;&lt;property id=&quot;20307&quot; value=&quot;259&quot;/&gt;&lt;/object&gt;&lt;object type=&quot;3&quot; unique_id=&quot;10008&quot;&gt;&lt;property id=&quot;20148&quot; value=&quot;5&quot;/&gt;&lt;property id=&quot;20300&quot; value=&quot;Slide 14 - &amp;quot;Functional organizational&amp;quot;&quot;/&gt;&lt;property id=&quot;20307&quot; value=&quot;260&quot;/&gt;&lt;/object&gt;&lt;object type=&quot;3&quot; unique_id=&quot;10009&quot;&gt;&lt;property id=&quot;20148&quot; value=&quot;5&quot;/&gt;&lt;property id=&quot;20300&quot; value=&quot;Slide 15 - &amp;quot;Functions vs. processes&amp;quot;&quot;/&gt;&lt;property id=&quot;20307&quot; value=&quot;265&quot;/&gt;&lt;/object&gt;&lt;object type=&quot;3&quot; unique_id=&quot;10010&quot;&gt;&lt;property id=&quot;20148&quot; value=&quot;5&quot;/&gt;&lt;property id=&quot;20300&quot; value=&quot;Slide 18 - &amp;quot;Consequences of delays&amp;quot;&quot;/&gt;&lt;property id=&quot;20307&quot; value=&quot;266&quot;/&gt;&lt;/object&gt;&lt;object type=&quot;3&quot; unique_id=&quot;10011&quot;&gt;&lt;property id=&quot;20148&quot; value=&quot;5&quot;/&gt;&lt;property id=&quot;20300&quot; value=&quot;Slide 17 - &amp;quot;Paper-based process&amp;quot;&quot;/&gt;&lt;property id=&quot;20307&quot; value=&quot;261&quot;/&gt;&lt;/object&gt;&lt;object type=&quot;3&quot; unique_id=&quot;10012&quot;&gt;&lt;property id=&quot;20148&quot; value=&quot;5&quot;/&gt;&lt;property id=&quot;20300&quot; value=&quot;Slide 20 - &amp;quot;Process using functional systems&amp;quot;&quot;/&gt;&lt;property id=&quot;20307&quot; value=&quot;262&quot;/&gt;&lt;/object&gt;&lt;object type=&quot;3&quot; unique_id=&quot;10013&quot;&gt;&lt;property id=&quot;20148&quot; value=&quot;5&quot;/&gt;&lt;property id=&quot;20300&quot; value=&quot;Slide 21 - &amp;quot;Processes using Enterprise Systems&amp;quot;&quot;/&gt;&lt;property id=&quot;20307&quot; value=&quot;263&quot;/&gt;&lt;/object&gt;&lt;object type=&quot;3&quot; unique_id=&quot;10014&quot;&gt;&lt;property id=&quot;20148&quot; value=&quot;5&quot;/&gt;&lt;property id=&quot;20300&quot; value=&quot;Slide 23 - &amp;quot;Framework: Key process flows&amp;quot;&quot;/&gt;&lt;property id=&quot;20307&quot; value=&quot;264&quot;/&gt;&lt;/object&gt;&lt;object type=&quot;3&quot; unique_id=&quot;10171&quot;&gt;&lt;property id=&quot;20148&quot; value=&quot;5&quot;/&gt;&lt;property id=&quot;20300&quot; value=&quot;Slide 2 - &amp;quot;Outline&amp;quot;&quot;/&gt;&lt;property id=&quot;20307&quot; value=&quot;267&quot;/&gt;&lt;/object&gt;&lt;object type=&quot;3&quot; unique_id=&quot;10172&quot;&gt;&lt;property id=&quot;20148&quot; value=&quot;5&quot;/&gt;&lt;property id=&quot;20300&quot; value=&quot;Slide 3 - &amp;quot;Global competition&amp;quot;&quot;/&gt;&lt;property id=&quot;20307&quot; value=&quot;268&quot;/&gt;&lt;/object&gt;&lt;object type=&quot;3&quot; unique_id=&quot;10173&quot;&gt;&lt;property id=&quot;20148&quot; value=&quot;5&quot;/&gt;&lt;property id=&quot;20300&quot; value=&quot;Slide 4 - &amp;quot;Information revolution&amp;quot;&quot;/&gt;&lt;property id=&quot;20307&quot; value=&quot;269&quot;/&gt;&lt;/object&gt;&lt;object type=&quot;3&quot; unique_id=&quot;10174&quot;&gt;&lt;property id=&quot;20148&quot; value=&quot;5&quot;/&gt;&lt;property id=&quot;20300&quot; value=&quot;Slide 5 - &amp;quot;Knowledge worker&amp;quot;&quot;/&gt;&lt;property id=&quot;20307&quot; value=&quot;270&quot;/&gt;&lt;/object&gt;&lt;object type=&quot;3&quot; unique_id=&quot;10175&quot;&gt;&lt;property id=&quot;20148&quot; value=&quot;5&quot;/&gt;&lt;property id=&quot;20300&quot; value=&quot;Slide 6 - &amp;quot;Knowledge worker&amp;quot;&quot;/&gt;&lt;property id=&quot;20307&quot; value=&quot;271&quot;/&gt;&lt;/object&gt;&lt;object type=&quot;3&quot; unique_id=&quot;10176&quot;&gt;&lt;property id=&quot;20148&quot; value=&quot;5&quot;/&gt;&lt;property id=&quot;20300&quot; value=&quot;Slide 7 - &amp;quot;Knowledge worker&amp;quot;&quot;/&gt;&lt;property id=&quot;20307&quot; value=&quot;272&quot;/&gt;&lt;/object&gt;&lt;object type=&quot;3&quot; unique_id=&quot;10272&quot;&gt;&lt;property id=&quot;20148&quot; value=&quot;5&quot;/&gt;&lt;property id=&quot;20300&quot; value=&quot;Slide 8 - &amp;quot;Business processes&amp;quot;&quot;/&gt;&lt;property id=&quot;20307&quot; value=&quot;273&quot;/&gt;&lt;/object&gt;&lt;object type=&quot;3&quot; unique_id=&quot;10273&quot;&gt;&lt;property id=&quot;20148&quot; value=&quot;5&quot;/&gt;&lt;property id=&quot;20300&quot; value=&quot;Slide 10 - &amp;quot;Business process - example&amp;quot;&quot;/&gt;&lt;property id=&quot;20307&quot; value=&quot;274&quot;/&gt;&lt;/object&gt;&lt;object type=&quot;3&quot; unique_id=&quot;10274&quot;&gt;&lt;property id=&quot;20148&quot; value=&quot;5&quot;/&gt;&lt;property id=&quot;20300&quot; value=&quot;Slide 13 - &amp;quot;Functional structure&amp;quot;&quot;/&gt;&lt;property id=&quot;20307&quot; value=&quot;275&quot;/&gt;&lt;/object&gt;&lt;object type=&quot;3&quot; unique_id=&quot;10407&quot;&gt;&lt;property id=&quot;20148&quot; value=&quot;5&quot;/&gt;&lt;property id=&quot;20300&quot; value=&quot;Slide 16 - &amp;quot;The Silo effect&amp;quot;&quot;/&gt;&lt;property id=&quot;20307&quot; value=&quot;276&quot;/&gt;&lt;/object&gt;&lt;object type=&quot;3&quot; unique_id=&quot;10408&quot;&gt;&lt;property id=&quot;20148&quot; value=&quot;5&quot;/&gt;&lt;property id=&quot;20300&quot; value=&quot;Slide 19 - &amp;quot;Delays are no longer acceptable&amp;quot;&quot;/&gt;&lt;property id=&quot;20307&quot; value=&quot;277&quot;/&gt;&lt;/object&gt;&lt;object type=&quot;3&quot; unique_id=&quot;10697&quot;&gt;&lt;property id=&quot;20148&quot; value=&quot;5&quot;/&gt;&lt;property id=&quot;20300&quot; value=&quot;Slide 22 - &amp;quot;Is this for MIS/IT majors?&amp;quot;&quot;/&gt;&lt;property id=&quot;20307&quot; value=&quot;278&quot;/&gt;&lt;/object&gt;&lt;object type=&quot;3&quot; unique_id=&quot;10698&quot;&gt;&lt;property id=&quot;20148&quot; value=&quot;5&quot;/&gt;&lt;property id=&quot;20300&quot; value=&quot;Slide 24 - &amp;quot;Role of ES in organizations&amp;quot;&quot;/&gt;&lt;property id=&quot;20307&quot; value=&quot;280&quot;/&gt;&lt;/object&gt;&lt;object type=&quot;3&quot; unique_id=&quot;10699&quot;&gt;&lt;property id=&quot;20148&quot; value=&quot;5&quot;/&gt;&lt;property id=&quot;20300&quot; value=&quot;Slide 25 - &amp;quot;Role of ES in organizations&amp;quot;&quot;/&gt;&lt;property id=&quot;20307&quot; value=&quot;281&quot;/&gt;&lt;/object&gt;&lt;object type=&quot;3&quot; unique_id=&quot;10700&quot;&gt;&lt;property id=&quot;20148&quot; value=&quot;5&quot;/&gt;&lt;property id=&quot;20300&quot; value=&quot;Slide 26 - &amp;quot;Role of ES in organizations&amp;quot;&quot;/&gt;&lt;property id=&quot;20307&quot; value=&quot;282&quot;/&gt;&lt;/object&gt;&lt;object type=&quot;3&quot; unique_id=&quot;10701&quot;&gt;&lt;property id=&quot;20148&quot; value=&quot;5&quot;/&gt;&lt;property id=&quot;20300&quot; value=&quot;Slide 27&quot;/&gt;&lt;property id=&quot;20307&quot; value=&quot;284&quot;/&gt;&lt;/object&gt;&lt;object type=&quot;3&quot; unique_id=&quot;10702&quot;&gt;&lt;property id=&quot;20148&quot; value=&quot;5&quot;/&gt;&lt;property id=&quot;20300&quot; value=&quot;Slide 28 - &amp;quot;Financial impact&amp;quot;&quot;/&gt;&lt;property id=&quot;20307&quot; value=&quot;279&quot;/&gt;&lt;/object&gt;&lt;/object&gt;&lt;/object&gt;&lt;/database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PIERP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EP Theme">
  <a:themeElements>
    <a:clrScheme name="partner_colors_2">
      <a:dk1>
        <a:srgbClr val="000000"/>
      </a:dk1>
      <a:lt1>
        <a:srgbClr val="FFFFFF"/>
      </a:lt1>
      <a:dk2>
        <a:srgbClr val="F0AB00"/>
      </a:dk2>
      <a:lt2>
        <a:srgbClr val="CCCCCC"/>
      </a:lt2>
      <a:accent1>
        <a:srgbClr val="6996BE"/>
      </a:accent1>
      <a:accent2>
        <a:srgbClr val="666666"/>
      </a:accent2>
      <a:accent3>
        <a:srgbClr val="44697D"/>
      </a:accent3>
      <a:accent4>
        <a:srgbClr val="557630"/>
      </a:accent4>
      <a:accent5>
        <a:srgbClr val="774A39"/>
      </a:accent5>
      <a:accent6>
        <a:srgbClr val="644459"/>
      </a:accent6>
      <a:hlink>
        <a:srgbClr val="04357B"/>
      </a:hlink>
      <a:folHlink>
        <a:srgbClr val="99999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2"/>
        </a:solidFill>
        <a:ln w="9525" algn="ctr">
          <a:noFill/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6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9525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kern="0" dirty="0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20180</TotalTime>
  <Words>518</Words>
  <Application>Microsoft Office PowerPoint</Application>
  <PresentationFormat>On-screen Show (4:3)</PresentationFormat>
  <Paragraphs>84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Wingdings</vt:lpstr>
      <vt:lpstr>Custom Design</vt:lpstr>
      <vt:lpstr>BPIERP </vt:lpstr>
      <vt:lpstr>EP Theme</vt:lpstr>
      <vt:lpstr>Business Process Integration with SAP ERP Chapter 9</vt:lpstr>
      <vt:lpstr>Background</vt:lpstr>
      <vt:lpstr> Integrated Business Processes</vt:lpstr>
      <vt:lpstr>Background</vt:lpstr>
      <vt:lpstr>Background</vt:lpstr>
      <vt:lpstr>Background</vt:lpstr>
      <vt:lpstr>Procurement, Fulfillment, Production, and IWM Processes</vt:lpstr>
      <vt:lpstr>Raw Material Cost per Bike</vt:lpstr>
      <vt:lpstr>Procurement, Fulfillment, Production, and Warehouse Management Processes</vt:lpstr>
      <vt:lpstr>Account Balances – Start of Process</vt:lpstr>
      <vt:lpstr>Fulfillment Process – Initial Steps</vt:lpstr>
      <vt:lpstr>Inventory Management – Initial Step</vt:lpstr>
      <vt:lpstr>Production Process – Initial Steps</vt:lpstr>
      <vt:lpstr>Procurement Process (External)</vt:lpstr>
      <vt:lpstr>Plant Stock Valuation after External Procurement</vt:lpstr>
      <vt:lpstr>Account Balances after External Procurement</vt:lpstr>
      <vt:lpstr>Production Process - Continued</vt:lpstr>
      <vt:lpstr>Account Balances after Production</vt:lpstr>
      <vt:lpstr>Inventory Management - Continued</vt:lpstr>
      <vt:lpstr>Account Balances after a Goods Issue against an STO</vt:lpstr>
      <vt:lpstr>Warehouse Management Steps</vt:lpstr>
      <vt:lpstr>Fulfillment Process - Continued</vt:lpstr>
      <vt:lpstr>Warehouse Management Process</vt:lpstr>
      <vt:lpstr>Fulfillment Process – Concluding Steps</vt:lpstr>
      <vt:lpstr>Account Balances after Fulfillment</vt:lpstr>
    </vt:vector>
  </TitlesOfParts>
  <Company>GVSU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magals</dc:creator>
  <cp:lastModifiedBy>Simha Magal</cp:lastModifiedBy>
  <cp:revision>1303</cp:revision>
  <dcterms:created xsi:type="dcterms:W3CDTF">2008-08-25T20:58:30Z</dcterms:created>
  <dcterms:modified xsi:type="dcterms:W3CDTF">2020-02-27T16:00:41Z</dcterms:modified>
</cp:coreProperties>
</file>